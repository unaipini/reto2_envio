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59" r:id="rId7"/>
    <p:sldId id="260" r:id="rId8"/>
    <p:sldId id="266" r:id="rId9"/>
    <p:sldId id="257" r:id="rId10"/>
    <p:sldId id="267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FAE5"/>
    <a:srgbClr val="059669"/>
    <a:srgbClr val="1B2D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55167-A7B2-4098-A36A-CE72D0CD6E5F}" v="418" dt="2026-02-26T11:07:42.923"/>
    <p1510:client id="{65B2A5FB-FA39-F33E-7EA9-E832BABEDCE4}" v="2" dt="2026-02-26T11:23:37.958"/>
    <p1510:client id="{E07A47B1-971C-8539-D9AA-A4549EE1E8B3}" v="620" dt="2026-02-26T11:40:25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10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TLS simple es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fácil</a:t>
            </a:r>
            <a:r>
              <a:rPr lang="en-US"/>
              <a:t> de </a:t>
            </a:r>
            <a:r>
              <a:rPr lang="en-US" err="1"/>
              <a:t>configurar</a:t>
            </a:r>
            <a:r>
              <a:rPr lang="en-US"/>
              <a:t> y </a:t>
            </a:r>
            <a:r>
              <a:rPr lang="en-US" err="1"/>
              <a:t>mantener</a:t>
            </a:r>
            <a:r>
              <a:rPr lang="en-US"/>
              <a:t>. Sin embargo, es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seguro</a:t>
            </a:r>
            <a:r>
              <a:rPr lang="en-US"/>
              <a:t>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alguien</a:t>
            </a:r>
            <a:r>
              <a:rPr lang="en-US"/>
              <a:t> se </a:t>
            </a:r>
            <a:r>
              <a:rPr lang="en-US" err="1"/>
              <a:t>hace</a:t>
            </a:r>
            <a:r>
              <a:rPr lang="en-US"/>
              <a:t> con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usuario</a:t>
            </a:r>
            <a:r>
              <a:rPr lang="en-US"/>
              <a:t> y </a:t>
            </a:r>
            <a:r>
              <a:rPr lang="en-US" err="1"/>
              <a:t>contraseña</a:t>
            </a:r>
            <a:r>
              <a:rPr lang="en-US"/>
              <a:t> se </a:t>
            </a:r>
            <a:r>
              <a:rPr lang="en-US" err="1"/>
              <a:t>pueden</a:t>
            </a:r>
            <a:r>
              <a:rPr lang="en-US"/>
              <a:t> </a:t>
            </a:r>
            <a:r>
              <a:rPr lang="en-US" err="1"/>
              <a:t>falsear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- CA </a:t>
            </a:r>
            <a:r>
              <a:rPr lang="en-US" err="1"/>
              <a:t>pública</a:t>
            </a:r>
            <a:r>
              <a:rPr lang="en-US"/>
              <a:t> </a:t>
            </a:r>
            <a:r>
              <a:rPr lang="es-ES"/>
              <a:t>obliga a renovar los certificados cada 90 días y requiere que el servidor esté expuesto a Internet para validarlos.</a:t>
            </a:r>
            <a:endParaRPr lang="en-US"/>
          </a:p>
          <a:p>
            <a:endParaRPr lang="en-US"/>
          </a:p>
          <a:p>
            <a:r>
              <a:rPr lang="en-US"/>
              <a:t>- Generación </a:t>
            </a:r>
            <a:r>
              <a:rPr lang="en-US" err="1"/>
              <a:t>automática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medio de </a:t>
            </a:r>
            <a:r>
              <a:rPr lang="en-US" err="1"/>
              <a:t>protocolos</a:t>
            </a:r>
            <a:r>
              <a:rPr lang="en-US"/>
              <a:t> EST o SCEP, es </a:t>
            </a:r>
            <a:r>
              <a:rPr lang="en-US" err="1"/>
              <a:t>mayormente</a:t>
            </a:r>
            <a:r>
              <a:rPr lang="en-US"/>
              <a:t> </a:t>
            </a:r>
            <a:r>
              <a:rPr lang="en-US" err="1"/>
              <a:t>útil</a:t>
            </a:r>
            <a:r>
              <a:rPr lang="en-US"/>
              <a:t> para </a:t>
            </a:r>
            <a:r>
              <a:rPr lang="en-US" err="1"/>
              <a:t>sistemas</a:t>
            </a:r>
            <a:r>
              <a:rPr lang="en-US"/>
              <a:t> con multiples sensors.</a:t>
            </a:r>
          </a:p>
          <a:p>
            <a:endParaRPr lang="en-US"/>
          </a:p>
          <a:p>
            <a:r>
              <a:rPr lang="en-US"/>
              <a:t>- </a:t>
            </a:r>
            <a:r>
              <a:rPr lang="es-ES"/>
              <a:t>SQL nos permite hacer consultas mucho más potentes y rápidas. Además de que nos permite almacenar el JSONB.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08295" y="444188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08295" y="444188"/>
            <a:ext cx="10058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3400"/>
          </a:p>
        </p:txBody>
      </p:sp>
      <p:sp>
        <p:nvSpPr>
          <p:cNvPr id="7" name="Text 5"/>
          <p:cNvSpPr/>
          <p:nvPr/>
        </p:nvSpPr>
        <p:spPr>
          <a:xfrm>
            <a:off x="2451295" y="70303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INVERNADERO · IoT SEGURO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451295" y="1013930"/>
            <a:ext cx="5029200" cy="1828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308295" y="1484845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 2: </a:t>
            </a:r>
            <a:r>
              <a:rPr lang="en-US" sz="6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Envío</a:t>
            </a:r>
            <a:endParaRPr lang="en-US" sz="6200" err="1"/>
          </a:p>
        </p:txBody>
      </p:sp>
      <p:sp>
        <p:nvSpPr>
          <p:cNvPr id="10" name="Text 8"/>
          <p:cNvSpPr/>
          <p:nvPr/>
        </p:nvSpPr>
        <p:spPr>
          <a:xfrm>
            <a:off x="1308295" y="2582125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Autenticación por Certificados</a:t>
            </a:r>
          </a:p>
          <a:p>
            <a:r>
              <a:rPr lang="en-US" sz="2200">
                <a:solidFill>
                  <a:srgbClr val="93C5FD"/>
                </a:solidFill>
                <a:ea typeface="Calibri"/>
                <a:cs typeface="Calibri"/>
              </a:rPr>
              <a:t>MQTT + TLS</a:t>
            </a:r>
          </a:p>
        </p:txBody>
      </p:sp>
      <p:sp>
        <p:nvSpPr>
          <p:cNvPr id="11" name="Shape 9"/>
          <p:cNvSpPr/>
          <p:nvPr/>
        </p:nvSpPr>
        <p:spPr>
          <a:xfrm>
            <a:off x="1308295" y="3633685"/>
            <a:ext cx="1207008" cy="329184"/>
          </a:xfrm>
          <a:prstGeom prst="roundRect">
            <a:avLst>
              <a:gd name="adj" fmla="val 27778"/>
            </a:avLst>
          </a:prstGeom>
          <a:solidFill>
            <a:srgbClr val="243566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308295" y="363368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2.0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2606743" y="3633685"/>
            <a:ext cx="1207008" cy="329184"/>
          </a:xfrm>
          <a:prstGeom prst="roundRect">
            <a:avLst>
              <a:gd name="adj" fmla="val 27778"/>
            </a:avLst>
          </a:prstGeom>
          <a:solidFill>
            <a:srgbClr val="243566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06743" y="363368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905191" y="3633685"/>
            <a:ext cx="1207008" cy="329184"/>
          </a:xfrm>
          <a:prstGeom prst="roundRect">
            <a:avLst>
              <a:gd name="adj" fmla="val 27778"/>
            </a:avLst>
          </a:prstGeom>
          <a:solidFill>
            <a:srgbClr val="243566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905191" y="363368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5203639" y="3633685"/>
            <a:ext cx="1207008" cy="329184"/>
          </a:xfrm>
          <a:prstGeom prst="roundRect">
            <a:avLst>
              <a:gd name="adj" fmla="val 27778"/>
            </a:avLst>
          </a:prstGeom>
          <a:solidFill>
            <a:srgbClr val="243566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203639" y="363368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502087" y="3633685"/>
            <a:ext cx="1207008" cy="329184"/>
          </a:xfrm>
          <a:prstGeom prst="roundRect">
            <a:avLst>
              <a:gd name="adj" fmla="val 27778"/>
            </a:avLst>
          </a:prstGeom>
          <a:solidFill>
            <a:srgbClr val="243566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502087" y="363368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3E"/>
          </a:solidFill>
          <a:ln w="12700">
            <a:solidFill>
              <a:srgbClr val="141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044884" y="4711824"/>
            <a:ext cx="4984992" cy="42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  <a:ea typeface="Calibri"/>
                <a:cs typeface="Calibri"/>
              </a:rPr>
              <a:t>Juan Mari Diaz     Imanol Lama     Unai Pinilla</a:t>
            </a:r>
          </a:p>
        </p:txBody>
      </p:sp>
      <p:pic>
        <p:nvPicPr>
          <p:cNvPr id="2" name="Imagen 1" descr="Candado PNG para descargar gratis">
            <a:extLst>
              <a:ext uri="{FF2B5EF4-FFF2-40B4-BE49-F238E27FC236}">
                <a16:creationId xmlns:a16="http://schemas.microsoft.com/office/drawing/2014/main" id="{043EBC67-2D82-CFD1-AC57-5DEFAA0F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05" y="546827"/>
            <a:ext cx="544072" cy="7929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Índice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22089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022089"/>
            <a:ext cx="594360" cy="437921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022089"/>
            <a:ext cx="594360" cy="43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1051560" y="1022089"/>
            <a:ext cx="36576" cy="437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202491" y="10792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seguidos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2212352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7200" y="2212352"/>
            <a:ext cx="594360" cy="437921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212352"/>
            <a:ext cx="594360" cy="43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1051560" y="2212352"/>
            <a:ext cx="36576" cy="437921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202491" y="226947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uso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57200" y="2817343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57200" y="2817343"/>
            <a:ext cx="594360" cy="437921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2817343"/>
            <a:ext cx="594360" cy="43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1051560" y="2817343"/>
            <a:ext cx="36576" cy="43792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202491" y="287446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vías de mejora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57200" y="3622015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57200" y="3622015"/>
            <a:ext cx="594360" cy="437921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3622015"/>
            <a:ext cx="594360" cy="43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1051560" y="3622015"/>
            <a:ext cx="36576" cy="43792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202491" y="367913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/ Retos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457200" y="4426687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57200" y="4426687"/>
            <a:ext cx="594360" cy="437921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57200" y="4426687"/>
            <a:ext cx="594360" cy="43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1051560" y="4426687"/>
            <a:ext cx="36576" cy="43792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202491" y="448381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posibles</a:t>
            </a:r>
            <a:endParaRPr lang="en-US" sz="140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E997F6B2-2D3D-38E8-53B0-8FA7DB648BE1}"/>
              </a:ext>
            </a:extLst>
          </p:cNvPr>
          <p:cNvSpPr/>
          <p:nvPr/>
        </p:nvSpPr>
        <p:spPr>
          <a:xfrm>
            <a:off x="457200" y="1593589"/>
            <a:ext cx="8321040" cy="43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820C155A-4EC4-60EC-B881-8E03F73D9E2E}"/>
              </a:ext>
            </a:extLst>
          </p:cNvPr>
          <p:cNvSpPr/>
          <p:nvPr/>
        </p:nvSpPr>
        <p:spPr>
          <a:xfrm>
            <a:off x="457200" y="1593589"/>
            <a:ext cx="594360" cy="437921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1E828815-6432-AF81-4A38-64EA25495752}"/>
              </a:ext>
            </a:extLst>
          </p:cNvPr>
          <p:cNvSpPr/>
          <p:nvPr/>
        </p:nvSpPr>
        <p:spPr>
          <a:xfrm>
            <a:off x="457200" y="1593589"/>
            <a:ext cx="594360" cy="437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solidFill>
                <a:srgbClr val="1B2D5B"/>
              </a:solidFill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2524CDFE-1E71-8A12-8999-8199B9140708}"/>
              </a:ext>
            </a:extLst>
          </p:cNvPr>
          <p:cNvSpPr/>
          <p:nvPr/>
        </p:nvSpPr>
        <p:spPr>
          <a:xfrm>
            <a:off x="1051560" y="1593589"/>
            <a:ext cx="36576" cy="437921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F4AD223B-ACC6-015E-BC50-A7BAC7B12B4B}"/>
              </a:ext>
            </a:extLst>
          </p:cNvPr>
          <p:cNvSpPr/>
          <p:nvPr/>
        </p:nvSpPr>
        <p:spPr>
          <a:xfrm>
            <a:off x="1202491" y="165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Código</a:t>
            </a:r>
            <a:endParaRPr lang="en-US" sz="1400" b="1">
              <a:solidFill>
                <a:srgbClr val="1B2D5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Pasos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Seguidos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25603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21208" y="1069848"/>
            <a:ext cx="475488" cy="47548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2120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🏛️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2404872" y="104241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04872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21208" y="1600200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Propia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21208" y="193852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una Autoridad Certificadora propia con OpenSSL. Genera ca.key y ca.crt para firmar todos los certificados del sistema.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227832" y="932688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27832" y="932688"/>
            <a:ext cx="25603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337560" y="1069848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3756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⚡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5221224" y="104241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221224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3337560" y="1600200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TLS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3337560" y="193852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Mosquitto en puerto 8883 con require_certificate true y allow_anonymous false para exigir certificados válidos.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6044184" y="932688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044184" y="932688"/>
            <a:ext cx="25603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153912" y="1069848"/>
            <a:ext cx="475488" cy="47548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153912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🌱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8037576" y="104241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803757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153912" y="1600200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153912" y="193852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simulador_sensor.py genera datos realistas (temperatura, humedad, luminosidad, pH) usando distribución normal y los publica con TLS.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1417320" y="29260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417320" y="292608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1527048" y="3063240"/>
            <a:ext cx="475488" cy="47548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527048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🧠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3410712" y="30358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41071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1527048" y="3593592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1527048" y="393192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guardar_datos.py se suscribe al broker con su propio certificado y guarda cada mensaje en la tabla mediciones de PostgreSQL.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33672" y="29260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233672" y="2926080"/>
            <a:ext cx="2560320" cy="64008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343400" y="3063240"/>
            <a:ext cx="475488" cy="475488"/>
          </a:xfrm>
          <a:prstGeom prst="ellipse">
            <a:avLst/>
          </a:prstGeom>
          <a:solidFill>
            <a:srgbClr val="F1F4F9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34340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🐳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6227064" y="3035808"/>
            <a:ext cx="457200" cy="457200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22706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4343400" y="3593592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4343400" y="393192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coordina los 4 contenedores: mosquitto, sensor_tierra, cerebro_datos y base_datos, montando certificados como volúmenes :ro.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0" y="978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CA Invernadero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200400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todos los certificados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544568" y="1719072"/>
            <a:ext cx="54864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017520" y="2066544"/>
            <a:ext cx="3108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017520" y="2066544"/>
            <a:ext cx="3108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Broker Mosquitto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017520" y="24963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8883 · TLS · require_certificate true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337560" y="277977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33756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allow_anonymous false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65760" y="2066544"/>
            <a:ext cx="2240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65760" y="2066544"/>
            <a:ext cx="22402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1488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sensor_tierra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65760" y="24963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simulador_sensor.py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cert: cliente_sensor.crt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594360" y="2779776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2779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🔒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606040" y="2672416"/>
            <a:ext cx="411480" cy="103118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537960" y="2066544"/>
            <a:ext cx="2240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537960" y="2066544"/>
            <a:ext cx="22402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537960" y="21488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cerebro_datos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537960" y="24963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guardar_datos.py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cert: cliente_cerebro.crt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6766560" y="2779776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766560" y="2779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🔒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126480" y="2672416"/>
            <a:ext cx="411480" cy="110004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7635240" y="3328416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217920" y="3648456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217920" y="3648456"/>
            <a:ext cx="28346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17920" y="37124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 · invernadero_db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21792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mediciones · puerto 5432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566928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11480" y="463600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certificado válido → el Broker rechaza la conexión automáticamente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91766" y="1115568"/>
            <a:ext cx="1737360" cy="274320"/>
          </a:xfrm>
          <a:prstGeom prst="rect">
            <a:avLst/>
          </a:prstGeom>
          <a:solidFill>
            <a:srgbClr val="E08020"/>
          </a:solidFill>
          <a:ln w="12700">
            <a:solidFill>
              <a:srgbClr val="E080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9176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mosquitto.conf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896503" y="1417320"/>
            <a:ext cx="3108960" cy="1005840"/>
          </a:xfrm>
          <a:prstGeom prst="rect">
            <a:avLst/>
          </a:prstGeom>
          <a:solidFill>
            <a:srgbClr val="1E3560"/>
          </a:solidFill>
          <a:ln w="25400">
            <a:solidFill>
              <a:srgbClr val="E080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896503" y="1417320"/>
            <a:ext cx="54864" cy="1005840"/>
          </a:xfrm>
          <a:prstGeom prst="rect">
            <a:avLst/>
          </a:prstGeom>
          <a:solidFill>
            <a:srgbClr val="E08020"/>
          </a:solidFill>
          <a:ln w="12700">
            <a:solidFill>
              <a:srgbClr val="E080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033663" y="1472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Puerto 8883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033663" y="1764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Estándar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oficial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MQTT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TLS (no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1883 sin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cifrar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6503" y="2560320"/>
            <a:ext cx="3108960" cy="1005840"/>
          </a:xfrm>
          <a:prstGeom prst="rect">
            <a:avLst/>
          </a:prstGeom>
          <a:solidFill>
            <a:srgbClr val="1E3560"/>
          </a:solidFill>
          <a:ln w="254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896503" y="2560320"/>
            <a:ext cx="54864" cy="10058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033663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require_certificate true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033663" y="2907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Sin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certificado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firmado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la CA </a:t>
            </a:r>
            <a:endParaRPr lang="en-US" sz="10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conexión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rechazada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96503" y="3703320"/>
            <a:ext cx="3108960" cy="1005840"/>
          </a:xfrm>
          <a:prstGeom prst="rect">
            <a:avLst/>
          </a:prstGeom>
          <a:solidFill>
            <a:srgbClr val="1E3560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896503" y="3703320"/>
            <a:ext cx="54864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33663" y="3758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100" b="1" err="1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use_identity_as_username</a:t>
            </a:r>
            <a:endParaRPr lang="en-US" sz="1100" err="1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33663" y="4050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El CN del certificado se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convierte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client ID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56A7DA9-AF4F-7029-B83D-7FEC1BA06B55}"/>
              </a:ext>
            </a:extLst>
          </p:cNvPr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Configuración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del Broker</a:t>
            </a:r>
            <a:endParaRPr lang="es-ES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4FEB417B-C544-17CB-404B-074706654930}"/>
              </a:ext>
            </a:extLst>
          </p:cNvPr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50B47B38-4B3C-15DE-E4DB-6B258047487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4" name="Imagen 33" descr="Texto&#10;&#10;El contenido generado por IA puede ser incorrecto.">
            <a:extLst>
              <a:ext uri="{FF2B5EF4-FFF2-40B4-BE49-F238E27FC236}">
                <a16:creationId xmlns:a16="http://schemas.microsoft.com/office/drawing/2014/main" id="{21C506E2-2B9A-BE11-3BD8-9B4F49C98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11" y="1591363"/>
            <a:ext cx="5458399" cy="29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7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5591" y="1205080"/>
            <a:ext cx="1737360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55591" y="120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simulador_sensor.py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858163" y="1205080"/>
            <a:ext cx="173736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858163" y="120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guardar_datos.py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46725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Ambos clientes usan tls_insecure_set(False) → el servidor también es verificado (autenticación mutua)</a:t>
            </a:r>
            <a:endParaRPr lang="en-US" sz="105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DF78A92-FE08-092D-B3CB-A5B0335E35ED}"/>
              </a:ext>
            </a:extLst>
          </p:cNvPr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Autenticación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TLS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Python</a:t>
            </a:r>
            <a:endParaRPr lang="es-ES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BDE55689-941C-7E76-F6C5-6C70CF859233}"/>
              </a:ext>
            </a:extLst>
          </p:cNvPr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85D8086-EB7E-3162-AA09-F7A2298F93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280A9DC5-933E-EB4F-B2B5-032E8A5F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24" y="1736993"/>
            <a:ext cx="4454028" cy="2571521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903B72BC-EF5E-52FD-600B-D28A364CB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438" y="1738426"/>
            <a:ext cx="3882069" cy="544303"/>
          </a:xfrm>
          <a:prstGeom prst="rect">
            <a:avLst/>
          </a:prstGeom>
        </p:spPr>
      </p:pic>
      <p:pic>
        <p:nvPicPr>
          <p:cNvPr id="22" name="Imagen 21" descr="Texto&#10;&#10;El contenido generado por IA puede ser incorrecto.">
            <a:extLst>
              <a:ext uri="{FF2B5EF4-FFF2-40B4-BE49-F238E27FC236}">
                <a16:creationId xmlns:a16="http://schemas.microsoft.com/office/drawing/2014/main" id="{7D401D26-ABF5-AF51-7606-3941722DB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103" y="2342978"/>
            <a:ext cx="3933825" cy="2110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115568"/>
            <a:ext cx="1737360" cy="274320"/>
          </a:xfrm>
          <a:prstGeom prst="rect">
            <a:avLst/>
          </a:prstGeom>
          <a:solidFill>
            <a:srgbClr val="E08020"/>
          </a:solidFill>
          <a:ln w="12700">
            <a:solidFill>
              <a:srgbClr val="E080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generar_certificados.sh</a:t>
            </a:r>
            <a:endParaRPr lang="en-US" sz="11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D370A5D7-1587-278A-23E5-54AF5EC49166}"/>
              </a:ext>
            </a:extLst>
          </p:cNvPr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Generación de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certificados</a:t>
            </a:r>
            <a:endParaRPr lang="es-ES" err="1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B587E05-E62D-FA1D-F690-041B363211FE}"/>
              </a:ext>
            </a:extLst>
          </p:cNvPr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4EFBF2B0-BB7C-747A-80F5-8C7AE473820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23B34F67-31D2-768B-7359-BFAA2FA0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82" y="1516024"/>
            <a:ext cx="4142802" cy="1422897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14DF9720-E278-0382-495D-E27AE692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801" y="1514187"/>
            <a:ext cx="4067175" cy="3340749"/>
          </a:xfrm>
          <a:prstGeom prst="rect">
            <a:avLst/>
          </a:prstGeom>
        </p:spPr>
      </p:pic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9BD76AD6-BCF1-CC37-E303-7CC74BAEA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24" y="3001063"/>
            <a:ext cx="4142916" cy="207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8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Instrucciones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de Uso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66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502920" cy="8961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93268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los certificados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005840" y="1280160"/>
            <a:ext cx="4572000" cy="475488"/>
          </a:xfrm>
          <a:prstGeom prst="rect">
            <a:avLst/>
          </a:prstGeom>
          <a:solidFill>
            <a:srgbClr val="F1F4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51560" y="12893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certs/generar_certificados.sh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./certs/generar_certificados.sh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5715000" y="1280160"/>
            <a:ext cx="29718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760720" y="128930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Genera: ca.crt · servidor.crt · cliente_sensor.crt · cliente_cerebro.crt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11480" y="1956816"/>
            <a:ext cx="8366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11480" y="1956816"/>
            <a:ext cx="502920" cy="8961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1480" y="195681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sistema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005840" y="2304288"/>
            <a:ext cx="4572000" cy="475488"/>
          </a:xfrm>
          <a:prstGeom prst="rect">
            <a:avLst/>
          </a:prstGeom>
          <a:solidFill>
            <a:srgbClr val="F1F4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51560" y="23134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5715000" y="2304288"/>
            <a:ext cx="29718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760720" y="23134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Inicia: mosquitto · sensor_tierra · cerebro_datos · base_datos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411480" y="2980944"/>
            <a:ext cx="8366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11480" y="2980944"/>
            <a:ext cx="502920" cy="8961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11480" y="298094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100584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con certificado ✅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1012725" y="3328416"/>
            <a:ext cx="3766393" cy="475488"/>
          </a:xfrm>
          <a:prstGeom prst="rect">
            <a:avLst/>
          </a:prstGeom>
          <a:solidFill>
            <a:srgbClr val="F1F4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975819" y="3330675"/>
            <a:ext cx="3881519" cy="477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mosquitto_pub -h localhost -p 8883 --cafile certs/ca.crt \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 certs/cliente_sensor.crt --key certs/cliente_sensor.key \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 "invernadero/sector_1/suelo" -m '{"temp":22.5}'</a:t>
            </a:r>
            <a:endParaRPr lang="en-US" sz="800"/>
          </a:p>
        </p:txBody>
      </p:sp>
      <p:sp>
        <p:nvSpPr>
          <p:cNvPr id="29" name="Shape 27"/>
          <p:cNvSpPr/>
          <p:nvPr/>
        </p:nvSpPr>
        <p:spPr>
          <a:xfrm>
            <a:off x="411480" y="4005072"/>
            <a:ext cx="8366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11480" y="4005072"/>
            <a:ext cx="502920" cy="89611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11480" y="400507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1005840" y="4059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rechazo (sin certificado) ❌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005840" y="4352544"/>
            <a:ext cx="4572000" cy="475488"/>
          </a:xfrm>
          <a:prstGeom prst="rect">
            <a:avLst/>
          </a:prstGeom>
          <a:solidFill>
            <a:srgbClr val="F1F4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051560" y="4361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B2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mosquitto_pub -h localhost -p 8883 -t "invernadero/prueba" -m "intruso"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5715000" y="4352544"/>
            <a:ext cx="297180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760720" y="436168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SSL handshake failed: certificate required</a:t>
            </a:r>
            <a:endParaRPr lang="en-US" sz="85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8A37074A-6274-B051-5B58-797AABA29EE4}"/>
              </a:ext>
            </a:extLst>
          </p:cNvPr>
          <p:cNvSpPr/>
          <p:nvPr/>
        </p:nvSpPr>
        <p:spPr>
          <a:xfrm>
            <a:off x="4946298" y="303663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Suscribirse</a:t>
            </a: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certificado ✅</a:t>
            </a:r>
            <a:endParaRPr lang="en-US" sz="110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6819EEAC-3C79-8F76-BA07-2CE2A9EBD622}"/>
              </a:ext>
            </a:extLst>
          </p:cNvPr>
          <p:cNvSpPr/>
          <p:nvPr/>
        </p:nvSpPr>
        <p:spPr>
          <a:xfrm>
            <a:off x="4946298" y="3329242"/>
            <a:ext cx="3745736" cy="475488"/>
          </a:xfrm>
          <a:prstGeom prst="rect">
            <a:avLst/>
          </a:prstGeom>
          <a:solidFill>
            <a:srgbClr val="F1F4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BED0BCD5-D945-45AE-BD45-348BF17BFCBF}"/>
              </a:ext>
            </a:extLst>
          </p:cNvPr>
          <p:cNvSpPr/>
          <p:nvPr/>
        </p:nvSpPr>
        <p:spPr>
          <a:xfrm>
            <a:off x="4923163" y="3324617"/>
            <a:ext cx="3785120" cy="477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mosquitto_sub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 -h localhost -p 8883 --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cafile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 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certs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/ca.crt --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cert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 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certs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/cliente_cerebro.crt --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key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 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certs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/</a:t>
            </a:r>
            <a:r>
              <a:rPr lang="es-ES" sz="800" err="1">
                <a:solidFill>
                  <a:srgbClr val="1B2D5B"/>
                </a:solidFill>
                <a:latin typeface="Consolas" pitchFamily="34" charset="0"/>
              </a:rPr>
              <a:t>cliente_cerebro.key</a:t>
            </a:r>
            <a:r>
              <a:rPr lang="es-ES" sz="800">
                <a:solidFill>
                  <a:srgbClr val="1B2D5B"/>
                </a:solidFill>
                <a:latin typeface="Consolas" pitchFamily="34" charset="0"/>
              </a:rPr>
              <a:t> -t "invernadero/#" -d</a:t>
            </a:r>
            <a:endParaRPr lang="en-US" sz="800">
              <a:solidFill>
                <a:srgbClr val="1B2D5B"/>
              </a:solidFill>
              <a:latin typeface="Consolas" pitchFamily="34" charset="0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5819CB59-4EE1-C198-5A3D-D20C0EE027DF}"/>
              </a:ext>
            </a:extLst>
          </p:cNvPr>
          <p:cNvSpPr/>
          <p:nvPr/>
        </p:nvSpPr>
        <p:spPr>
          <a:xfrm>
            <a:off x="4833650" y="2981439"/>
            <a:ext cx="54424" cy="88135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Posibles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Vías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Mejora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5603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21208" y="105156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en tiempo real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21208" y="150876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21208" y="158191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Grafana conectado a PostgreSQL para visualizar temperatura, pH y humedad con gráficas en vivo.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5603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55848" y="105156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Sistema de alertas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355848" y="150876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355848" y="158191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por email o Telegram cuando los valores del sensor salgan de rangos ideales.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56032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90488" y="105156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Revocación de certificados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190488" y="150876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190488" y="158191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CRL (Certificate Revocation List) para invalidar certificados comprometidos sin regenerar la CA.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11480" y="29718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11480" y="2971800"/>
            <a:ext cx="256032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21208" y="306324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MQTT QoS nivel 2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21208" y="352044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21208" y="359359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la calidad de servicio a exactly-once para garantizar que ninguna medición se pierda ni duplique.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56032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55848" y="306324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Despliegue en la nube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3355848" y="352044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355848" y="359359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AWS IoT Core o Azure IoT Hub para escalabilidad, alta disponibilidad y gestión centralizada.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080760" y="2971800"/>
            <a:ext cx="2560320" cy="50292"/>
          </a:xfrm>
          <a:prstGeom prst="rect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190488" y="306324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Análisis predictivo (ML)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6190488" y="3520440"/>
            <a:ext cx="2340864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190488" y="3593592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modelos de ML para predecir condiciones adversas y automatizar el riego o la iluminación.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Problemas y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Retos</a:t>
            </a: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Encontrados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66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996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Certificados en Docker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certificados deben montarse como volúmenes :ro en los contenedores correctos. Cualquier desajuste de rutas impedía la conexión TLS.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892040" y="1042416"/>
            <a:ext cx="3794760" cy="5120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956048" y="104241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Mapeo cuidadoso en docker-compose.yml con rutas absolutas dentro del contenedor.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8366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11480" y="1755648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8640" y="1819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Puerto como string en Python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48640" y="2103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 entorno llegan siempre como string. El puerto 8883 debía convertirse a int() explícitamente.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4892040" y="1865376"/>
            <a:ext cx="3794760" cy="5120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56048" y="18653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MQTT_PUERTO = int(os.getenv('PUERTO_BROKER', '8883'))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8366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11480" y="2578608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Race condition BD / consumidor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cerebro_datos arrancaba antes de que PostgreSQL estuviera listo, provocando errores al crear la tabla.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892040" y="2688336"/>
            <a:ext cx="3794760" cy="5120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956048" y="26883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Bucle while con time.sleep(2) hasta obtener conexión exitosa.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411480" y="3401568"/>
            <a:ext cx="8366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11480" y="3401568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48640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🌱</a:t>
            </a:r>
            <a:r>
              <a:rPr lang="en-US" sz="11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  CN del </a:t>
            </a:r>
            <a:r>
              <a:rPr lang="en-US" sz="11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certificado</a:t>
            </a:r>
            <a:r>
              <a:rPr lang="en-US" sz="11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1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 username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use_identity_as_username true, el CN debe coincidir exactamente con el client_id del código Python.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892040" y="3511296"/>
            <a:ext cx="3794760" cy="5120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956048" y="351129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CN=sensor_suelo_01 debe igualar ID_SENSOR en docker-compose.yml.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11480" y="4224528"/>
            <a:ext cx="8366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11480" y="4224528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 silenciosos del broker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log_type all, los rechazos TLS no eran visibles en consola, dificultando el diagnóstico de conexiones fallidas.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4892040" y="4334256"/>
            <a:ext cx="3794760" cy="5120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956048" y="43342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Añadir log_dest stdout y log_type all en mosquitto.conf.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Alternativas </a:t>
            </a:r>
            <a:r>
              <a:rPr lang="en-US" sz="2600" b="1" err="1">
                <a:solidFill>
                  <a:srgbClr val="1B2D5B"/>
                </a:solidFill>
                <a:latin typeface="Calibri"/>
                <a:ea typeface="Calibri"/>
                <a:cs typeface="Calibri"/>
              </a:rPr>
              <a:t>Posibles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8412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02920" y="1309351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02920" y="1309351"/>
            <a:ext cx="5029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139164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simple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58368" y="1729975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</a:t>
            </a:r>
            <a:r>
              <a:rPr lang="es-E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certificado, el tráfico va cifrado, pero los sensores no usan certificados para entrar, usan usuario y contraseña.</a:t>
            </a:r>
            <a:endParaRPr lang="en-US" sz="100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115643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48640" y="3115643"/>
            <a:ext cx="5029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04088" y="3197939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704088" y="3536267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las lecturas de los sensores directamente en formato JSON flexible.</a:t>
            </a:r>
            <a:endParaRPr lang="en-US" sz="100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309351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54880" y="1309351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10328" y="1391647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</a:t>
            </a:r>
            <a:r>
              <a:rPr lang="en-US" sz="1300" b="1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910328" y="1729975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Certificadora pública y gratuita como </a:t>
            </a:r>
            <a:r>
              <a:rPr lang="es-E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</a:t>
            </a:r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 la que usan las páginas web.</a:t>
            </a:r>
            <a:endParaRPr lang="en-US" sz="100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115643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800600" y="3115643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956048" y="3197939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</a:t>
            </a:r>
            <a:r>
              <a:rPr lang="en-US" sz="1300" b="1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956048" y="3536267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r>
              <a:rPr lang="en-U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encenderse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sensor, </a:t>
            </a:r>
            <a:r>
              <a:rPr lang="es-E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su propio par de claves y solicita automáticamente su certificado a un servidor.</a:t>
            </a:r>
            <a:endParaRPr lang="en-US" sz="100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1463040" cy="1463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>
                <a:solidFill>
                  <a:srgbClr val="000000"/>
                </a:solidFill>
              </a:rPr>
              <a:t>✅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· TLS · </a:t>
            </a:r>
            <a:r>
              <a:rPr lang="en-US" sz="150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r>
              <a:rPr lang="en-US" sz="15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Docker · PostgreSQL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920240" cy="1005840"/>
          </a:xfrm>
          <a:prstGeom prst="rect">
            <a:avLst/>
          </a:prstGeom>
          <a:solidFill>
            <a:srgbClr val="1A2A57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35021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566160" y="3474720"/>
            <a:ext cx="1920240" cy="1005840"/>
          </a:xfrm>
          <a:prstGeom prst="rect">
            <a:avLst/>
          </a:prstGeom>
          <a:solidFill>
            <a:srgbClr val="1A2A57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566160" y="35021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356616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cliente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675120" y="3474720"/>
            <a:ext cx="1920240" cy="1005840"/>
          </a:xfrm>
          <a:prstGeom prst="rect">
            <a:avLst/>
          </a:prstGeom>
          <a:solidFill>
            <a:srgbClr val="1A2A57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0" y="35021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8883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667512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TLS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3E"/>
          </a:solidFill>
          <a:ln w="12700">
            <a:solidFill>
              <a:srgbClr val="141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9074D2F630134E85C995C6F8514229" ma:contentTypeVersion="11" ma:contentTypeDescription="Create a new document." ma:contentTypeScope="" ma:versionID="d8cd9ac2c2a344e7395e908d88e4e8a7">
  <xsd:schema xmlns:xsd="http://www.w3.org/2001/XMLSchema" xmlns:xs="http://www.w3.org/2001/XMLSchema" xmlns:p="http://schemas.microsoft.com/office/2006/metadata/properties" xmlns:ns3="2b1e426f-481b-4da6-8916-bf46cb0e90c2" targetNamespace="http://schemas.microsoft.com/office/2006/metadata/properties" ma:root="true" ma:fieldsID="43defc0437310515d54d661f64201e92" ns3:_="">
    <xsd:import namespace="2b1e426f-481b-4da6-8916-bf46cb0e90c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426f-481b-4da6-8916-bf46cb0e90c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1e426f-481b-4da6-8916-bf46cb0e90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3C918D-1B2F-4292-A46F-D1552FB8133C}">
  <ds:schemaRefs>
    <ds:schemaRef ds:uri="2b1e426f-481b-4da6-8916-bf46cb0e90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BD8A5C0-43CF-47F0-B6DF-5CA3874C1D10}">
  <ds:schemaRefs>
    <ds:schemaRef ds:uri="2b1e426f-481b-4da6-8916-bf46cb0e90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4FA0F38-C860-4EEB-A09C-D28A74FFC9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12</Slides>
  <Notes>12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 + TLS - Proyecto Invernadero</dc:title>
  <dc:subject>PptxGenJS Presentation</dc:subject>
  <dc:creator>PptxGenJS</dc:creator>
  <cp:revision>2</cp:revision>
  <dcterms:created xsi:type="dcterms:W3CDTF">2026-02-24T16:49:24Z</dcterms:created>
  <dcterms:modified xsi:type="dcterms:W3CDTF">2026-02-26T12:01:03Z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0x010100B09074D2F630134E85C995C6F8514229</vt:lpwstr>
  </property>
</Properties>
</file>